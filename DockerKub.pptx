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6" r:id="rId17"/>
    <p:sldId id="287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embeddedFontLst>
    <p:embeddedFont>
      <p:font typeface="Candara" panose="020E0502030303020204" pitchFamily="34" charset="0"/>
      <p:regular r:id="rId35"/>
      <p:bold r:id="rId36"/>
      <p:italic r:id="rId37"/>
      <p:boldItalic r:id="rId38"/>
    </p:embeddedFont>
    <p:embeddedFont>
      <p:font typeface="Corbel" panose="020B050302020402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immSVQOGWMFdrOY7yOxRWUaPF3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4fced50ca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4fced50ca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g24fced50cab_0_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cdd11c01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cdd11c013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2cdd11c0137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cdd11c013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cdd11c013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g2cdd11c0137_0_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913e42524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913e42524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2913e425248_0_3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913e425248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913e425248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2913e425248_0_3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913e42524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913e425248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2913e425248_0_1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20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4fced50c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4fced50c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24fced50cab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22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913e425248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913e425248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2913e425248_0_4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25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913e425248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913e425248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2913e425248_0_5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26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913e4252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913e4252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2913e425248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27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913e425248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913e425248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2913e425248_0_7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29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913e42524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913e42524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2913e425248_0_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30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913e425248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913e425248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2913e425248_0_1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31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913e425248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913e425248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2913e425248_0_2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32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6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400" cy="2263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cxnSp>
        <p:nvCxnSpPr>
          <p:cNvPr id="19" name="Google Shape;19;p46"/>
          <p:cNvCxnSpPr/>
          <p:nvPr/>
        </p:nvCxnSpPr>
        <p:spPr>
          <a:xfrm>
            <a:off x="622300" y="1143000"/>
            <a:ext cx="10947400" cy="0"/>
          </a:xfrm>
          <a:prstGeom prst="straightConnector1">
            <a:avLst/>
          </a:prstGeom>
          <a:noFill/>
          <a:ln w="28575" cap="flat" cmpd="sng">
            <a:solidFill>
              <a:srgbClr val="095A8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46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95A8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3" name="Google Shape;23;p37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7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7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30" name="Google Shape;30;p38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38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38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38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3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38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3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7"/>
          <p:cNvSpPr txBox="1"/>
          <p:nvPr/>
        </p:nvSpPr>
        <p:spPr>
          <a:xfrm>
            <a:off x="0" y="0"/>
            <a:ext cx="508000" cy="6858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7"/>
          <p:cNvSpPr txBox="1"/>
          <p:nvPr/>
        </p:nvSpPr>
        <p:spPr>
          <a:xfrm>
            <a:off x="0" y="685800"/>
            <a:ext cx="508000" cy="6858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 xmlns:p14="http://schemas.microsoft.com/office/powerpoint/2010/main">
    <mc:Choice Requires="p14">
      <p:transition spd="slow" p14:dur="3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ckersamples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400" cy="462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Docker is an open-source platform that enables the creation, deployment, and management of applications using containerization. It provides a standardized way to package software and its dependencies into a container, which can then be run on any system that has Docker installed.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Containerization is light-weighted form of virtualization that allows multiple isolated containers to run on a single machine each of them has its own file system, memory and networking.</a:t>
            </a:r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Docker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400" cy="26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 Virtual machines are based on computer architectures and provide the functionality of a physical computer. Their implementations may involve specialized hardware, software, or a combination of the two.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Virtual machines</a:t>
            </a:r>
            <a:endParaRPr/>
          </a:p>
        </p:txBody>
      </p:sp>
      <p:pic>
        <p:nvPicPr>
          <p:cNvPr id="49" name="Google Shape;49;p6" descr="Diagram of virtualized architecture. Multiple VMs, each composed of an app and guest OS, run on the same hypervisor, host OS and hardware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4192" y="3401002"/>
            <a:ext cx="5007553" cy="3239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300" cy="57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b="1"/>
              <a:t>Hypervisor:</a:t>
            </a:r>
            <a:r>
              <a:rPr lang="en-IN"/>
              <a:t> It manages and runs multiple VMs on host machines. It abstracts the hardware resources such as CPU, memory and storage to be shared.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b="1"/>
              <a:t>Operating System:</a:t>
            </a:r>
            <a:r>
              <a:rPr lang="en-IN"/>
              <a:t> Each VM runs on its own OS including kernel, libraries and processes. This provides strong isolation between VMs.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b="1"/>
              <a:t>Resource Allocation:</a:t>
            </a:r>
            <a:r>
              <a:rPr lang="en-IN"/>
              <a:t> The resources allocated to VM are dedicated and cant be shared with other VMs.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b="1"/>
              <a:t>Resource overhead:</a:t>
            </a:r>
            <a:r>
              <a:rPr lang="en-IN"/>
              <a:t> Each VM runs full OS, resulting in larger memory footprints and slower startup times.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Virtual Machines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4fced50cab_0_6"/>
          <p:cNvSpPr txBox="1">
            <a:spLocks noGrp="1"/>
          </p:cNvSpPr>
          <p:nvPr>
            <p:ph type="body" idx="1"/>
          </p:nvPr>
        </p:nvSpPr>
        <p:spPr>
          <a:xfrm>
            <a:off x="622300" y="1159988"/>
            <a:ext cx="10947300" cy="53703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The technology that bundles the code for an application, and the configuration required to run the code itself, in one unit.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 b="1"/>
              <a:t>Why containers?</a:t>
            </a:r>
            <a:endParaRPr b="1"/>
          </a:p>
          <a:p>
            <a:pPr marL="457200" lvl="0" indent="-431800" algn="l" rtl="0">
              <a:spcBef>
                <a:spcPts val="64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Portable: Can run on any OS.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Cost-effective: Uses less CPU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Scale: Self-contained. Can spun up/down in seconds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Quick replication: Create/erase replicas faster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Softwares: Docker, podman, </a:t>
            </a:r>
            <a:r>
              <a:rPr lang="en-IN" b="1"/>
              <a:t>containerd</a:t>
            </a:r>
            <a:r>
              <a:rPr lang="en-IN"/>
              <a:t>, rkt, </a:t>
            </a:r>
            <a:r>
              <a:rPr lang="en-IN" b="1"/>
              <a:t>cri-o</a:t>
            </a:r>
            <a:endParaRPr b="1"/>
          </a:p>
        </p:txBody>
      </p:sp>
      <p:sp>
        <p:nvSpPr>
          <p:cNvPr id="62" name="Google Shape;62;g24fced50cab_0_6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300" cy="4974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Containers</a:t>
            </a:r>
            <a:endParaRPr/>
          </a:p>
        </p:txBody>
      </p:sp>
      <p:pic>
        <p:nvPicPr>
          <p:cNvPr id="63" name="Google Shape;63;g24fced50cab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050" y="2326950"/>
            <a:ext cx="3882550" cy="244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cdd11c0137_0_0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300" cy="5268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2cdd11c0137_0_0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300" cy="4974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Docker Components</a:t>
            </a:r>
            <a:endParaRPr/>
          </a:p>
        </p:txBody>
      </p:sp>
      <p:pic>
        <p:nvPicPr>
          <p:cNvPr id="71" name="Google Shape;71;g2cdd11c013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300" y="2005575"/>
            <a:ext cx="8380050" cy="449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cdd11c0137_0_7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300" cy="67659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Docker Client: Talks to docker daemon, interacts using Rest API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Docker Daemon: Service that manages docker objects such as images, volumes.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O/S specific containers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	WIndows server core (Windows server 2016)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	Nano server (small size)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     Hyper-v isloation (Win 10 professional+ )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	Linux (alpine, ubuntu…)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     Mac (Sierra 10.12 or newer)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    Mac Hardware - 2010 model or newer</a:t>
            </a:r>
            <a:endParaRPr/>
          </a:p>
        </p:txBody>
      </p:sp>
      <p:sp>
        <p:nvSpPr>
          <p:cNvPr id="78" name="Google Shape;78;g2cdd11c0137_0_7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300" cy="4974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Docker Architecture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300" cy="56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400" b="1"/>
              <a:t>Portability and Consistency</a:t>
            </a:r>
            <a:r>
              <a:rPr lang="en-IN" sz="2400"/>
              <a:t>: Ensures ML model runs consistently regardless of the underlying infrastructure. Useful for test/dev /production environments.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400" b="1"/>
              <a:t>Isolation and Reproducibility</a:t>
            </a:r>
            <a:r>
              <a:rPr lang="en-IN" sz="2400"/>
              <a:t>: Can run in isolation.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400" b="1"/>
              <a:t>Efficient Resource Utilization</a:t>
            </a:r>
            <a:r>
              <a:rPr lang="en-IN" sz="2400"/>
              <a:t>: Containers share host OS kernel, resulting in less overhead compared to full virtualization. They startup quickly.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400" b="1"/>
              <a:t>Simplified deployment</a:t>
            </a:r>
            <a:r>
              <a:rPr lang="en-IN" sz="2400"/>
              <a:t>: Reduces overhead in deployment and manual configuration.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400" b="1"/>
              <a:t>Scalability and Orchestration</a:t>
            </a:r>
            <a:r>
              <a:rPr lang="en-IN" sz="2400"/>
              <a:t>: Kubernetes and Docker Swarm enable seamless scaling of ML applications by managing multiple container instances.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400" b="1"/>
              <a:t>Version control and collaboration</a:t>
            </a:r>
            <a:r>
              <a:rPr lang="en-IN" sz="2400"/>
              <a:t>: Docker Hub contains previous images. Versioning container images ensured that the images can be tracked and rolled-back.</a:t>
            </a:r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Why Docker?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300" cy="56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400" b="1"/>
              <a:t>DockerFile:</a:t>
            </a:r>
            <a:r>
              <a:rPr lang="en-IN" sz="2400"/>
              <a:t> Text file that contains instructions to build docker image.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400" b="1"/>
              <a:t>Docker Images: </a:t>
            </a:r>
            <a:r>
              <a:rPr lang="en-IN" sz="2400"/>
              <a:t>Template which contains application code, dependencies, libraries, created from docker file.</a:t>
            </a:r>
            <a:endParaRPr/>
          </a:p>
          <a:p>
            <a:pPr marL="91440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2000"/>
              <a:t>Used to create multiple container instances.</a:t>
            </a:r>
            <a:endParaRPr sz="2000"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400" b="1"/>
              <a:t>Docker Containers: </a:t>
            </a:r>
            <a:r>
              <a:rPr lang="en-IN" sz="2400"/>
              <a:t>Running instance of the image. Light-weighted, isolated and encapsulates application environment. They can be connected to networks, have storage.</a:t>
            </a:r>
            <a:endParaRPr sz="2400" b="1"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400" b="1"/>
              <a:t>Docker Engine:</a:t>
            </a:r>
            <a:r>
              <a:rPr lang="en-IN" sz="2400"/>
              <a:t> Core component that provides runtime environment for containers. It manages lifetime of containers. Contains Docker Daemon and Docker client.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400" b="1"/>
              <a:t>Docker Hub/Registry: </a:t>
            </a:r>
            <a:r>
              <a:rPr lang="en-IN" sz="2400"/>
              <a:t>Public repository with docker images.  Push/pull requests.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endParaRPr sz="2400"/>
          </a:p>
        </p:txBody>
      </p:sp>
      <p:sp>
        <p:nvSpPr>
          <p:cNvPr id="90" name="Google Shape;90;p9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Docker components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913e425248_0_31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300" cy="49599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457200" lvl="0" indent="-431800" algn="l" rtl="0">
              <a:spcBef>
                <a:spcPts val="640"/>
              </a:spcBef>
              <a:spcAft>
                <a:spcPts val="0"/>
              </a:spcAft>
              <a:buSzPts val="3200"/>
              <a:buAutoNum type="arabicPeriod"/>
            </a:pPr>
            <a:r>
              <a:rPr lang="en-IN"/>
              <a:t>Development environment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IN"/>
              <a:t>Experimentation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lphaLcPeriod"/>
            </a:pPr>
            <a:r>
              <a:rPr lang="en-IN"/>
              <a:t>A/B testing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lphaLcPeriod"/>
            </a:pPr>
            <a:r>
              <a:rPr lang="en-IN"/>
              <a:t>Blue/Green deployment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lphaLcPeriod"/>
            </a:pPr>
            <a:r>
              <a:rPr lang="en-IN"/>
              <a:t>Canary deployment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IN"/>
              <a:t>Production environment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lphaLcPeriod"/>
            </a:pPr>
            <a:r>
              <a:rPr lang="en-IN"/>
              <a:t>Service deployment on clusters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lphaLcPeriod"/>
            </a:pPr>
            <a:r>
              <a:rPr lang="en-IN"/>
              <a:t>Service monitoring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lphaLcPeriod"/>
            </a:pPr>
            <a:r>
              <a:rPr lang="en-IN"/>
              <a:t>One-of changes and adhoc verification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lphaLcPeriod"/>
            </a:pPr>
            <a:r>
              <a:rPr lang="en-IN"/>
              <a:t>Experimentation for significant changes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lphaLcPeriod"/>
            </a:pPr>
            <a:r>
              <a:rPr lang="en-IN"/>
              <a:t>CI/CD environment</a:t>
            </a:r>
            <a:endParaRPr/>
          </a:p>
        </p:txBody>
      </p:sp>
      <p:sp>
        <p:nvSpPr>
          <p:cNvPr id="97" name="Google Shape;97;g2913e425248_0_31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300" cy="4974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Productionization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103" name="Google Shape;10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150" y="1459707"/>
            <a:ext cx="1175385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0"/>
          <p:cNvSpPr txBox="1">
            <a:spLocks noGrp="1"/>
          </p:cNvSpPr>
          <p:nvPr>
            <p:ph type="body" idx="1"/>
          </p:nvPr>
        </p:nvSpPr>
        <p:spPr>
          <a:xfrm>
            <a:off x="609601" y="273051"/>
            <a:ext cx="1097279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IN"/>
              <a:t>Docker Architecture</a:t>
            </a:r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111" name="Google Shape;11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5163" y="2383632"/>
            <a:ext cx="9382125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1"/>
          <p:cNvSpPr txBox="1">
            <a:spLocks noGrp="1"/>
          </p:cNvSpPr>
          <p:nvPr>
            <p:ph type="body" idx="1"/>
          </p:nvPr>
        </p:nvSpPr>
        <p:spPr>
          <a:xfrm>
            <a:off x="609601" y="273051"/>
            <a:ext cx="1097279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IN"/>
              <a:t>Docker File</a:t>
            </a:r>
            <a:endParaRPr/>
          </a:p>
        </p:txBody>
      </p:sp>
      <p:sp>
        <p:nvSpPr>
          <p:cNvPr id="113" name="Google Shape;113;p11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14" name="Google Shape;114;p1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913e425248_0_37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00" cy="116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2913e425248_0_37"/>
          <p:cNvSpPr txBox="1">
            <a:spLocks noGrp="1"/>
          </p:cNvSpPr>
          <p:nvPr>
            <p:ph type="body" idx="1"/>
          </p:nvPr>
        </p:nvSpPr>
        <p:spPr>
          <a:xfrm>
            <a:off x="497125" y="273050"/>
            <a:ext cx="11085300" cy="585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Best Practices for Authoring Docker File</a:t>
            </a:r>
            <a:endParaRPr/>
          </a:p>
        </p:txBody>
      </p:sp>
      <p:sp>
        <p:nvSpPr>
          <p:cNvPr id="122" name="Google Shape;122;g2913e425248_0_3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sp>
        <p:nvSpPr>
          <p:cNvPr id="123" name="Google Shape;123;g2913e425248_0_37"/>
          <p:cNvSpPr txBox="1"/>
          <p:nvPr/>
        </p:nvSpPr>
        <p:spPr>
          <a:xfrm>
            <a:off x="676825" y="1651775"/>
            <a:ext cx="10905600" cy="46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Candara"/>
              <a:buAutoNum type="arabicPeriod"/>
            </a:pPr>
            <a:r>
              <a:rPr lang="en-IN" sz="2100">
                <a:latin typeface="Candara"/>
                <a:ea typeface="Candara"/>
                <a:cs typeface="Candara"/>
                <a:sym typeface="Candara"/>
              </a:rPr>
              <a:t>Split the dockerfile into multiple and staged instructions.</a:t>
            </a:r>
            <a:endParaRPr sz="2100">
              <a:latin typeface="Candara"/>
              <a:ea typeface="Candara"/>
              <a:cs typeface="Candara"/>
              <a:sym typeface="Candara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Candara"/>
              <a:buAutoNum type="alphaLcPeriod"/>
            </a:pPr>
            <a:r>
              <a:rPr lang="en-IN" sz="2100">
                <a:latin typeface="Candara"/>
                <a:ea typeface="Candara"/>
                <a:cs typeface="Candara"/>
                <a:sym typeface="Candara"/>
              </a:rPr>
              <a:t>Building the library</a:t>
            </a:r>
            <a:endParaRPr sz="2100">
              <a:latin typeface="Candara"/>
              <a:ea typeface="Candara"/>
              <a:cs typeface="Candara"/>
              <a:sym typeface="Candara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Candara"/>
              <a:buAutoNum type="alphaLcPeriod"/>
            </a:pPr>
            <a:r>
              <a:rPr lang="en-IN" sz="2100">
                <a:latin typeface="Candara"/>
                <a:ea typeface="Candara"/>
                <a:cs typeface="Candara"/>
                <a:sym typeface="Candara"/>
              </a:rPr>
              <a:t>Copying the relevant files</a:t>
            </a:r>
            <a:endParaRPr sz="2100">
              <a:latin typeface="Candara"/>
              <a:ea typeface="Candara"/>
              <a:cs typeface="Candara"/>
              <a:sym typeface="Candara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Candara"/>
              <a:buAutoNum type="arabicPeriod"/>
            </a:pPr>
            <a:r>
              <a:rPr lang="en-IN" sz="2100">
                <a:latin typeface="Candara"/>
                <a:ea typeface="Candara"/>
                <a:cs typeface="Candara"/>
                <a:sym typeface="Candara"/>
              </a:rPr>
              <a:t>Use .dockerignore to ignore the files that are not needed.</a:t>
            </a:r>
            <a:endParaRPr sz="2100">
              <a:latin typeface="Candara"/>
              <a:ea typeface="Candara"/>
              <a:cs typeface="Candara"/>
              <a:sym typeface="Candara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Candara"/>
              <a:buAutoNum type="arabicPeriod"/>
            </a:pPr>
            <a:r>
              <a:rPr lang="en-IN" sz="2100">
                <a:latin typeface="Candara"/>
                <a:ea typeface="Candara"/>
                <a:cs typeface="Candara"/>
                <a:sym typeface="Candara"/>
              </a:rPr>
              <a:t>Dont install un-necessary packages.</a:t>
            </a:r>
            <a:endParaRPr sz="2100">
              <a:latin typeface="Candara"/>
              <a:ea typeface="Candara"/>
              <a:cs typeface="Candara"/>
              <a:sym typeface="Candara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Candara"/>
              <a:buAutoNum type="arabicPeriod"/>
            </a:pPr>
            <a:r>
              <a:rPr lang="en-IN" sz="2100">
                <a:latin typeface="Candara"/>
                <a:ea typeface="Candara"/>
                <a:cs typeface="Candara"/>
                <a:sym typeface="Candara"/>
              </a:rPr>
              <a:t>Container should be as independent and stateless as possible.</a:t>
            </a:r>
            <a:endParaRPr sz="2100">
              <a:latin typeface="Candara"/>
              <a:ea typeface="Candara"/>
              <a:cs typeface="Candara"/>
              <a:sym typeface="Candara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Candara"/>
              <a:buAutoNum type="arabicPeriod"/>
            </a:pPr>
            <a:r>
              <a:rPr lang="en-IN" sz="2100">
                <a:latin typeface="Candara"/>
                <a:ea typeface="Candara"/>
                <a:cs typeface="Candara"/>
                <a:sym typeface="Candara"/>
              </a:rPr>
              <a:t>Each container should build one application/service/process.</a:t>
            </a:r>
            <a:endParaRPr sz="2100">
              <a:latin typeface="Candara"/>
              <a:ea typeface="Candara"/>
              <a:cs typeface="Candara"/>
              <a:sym typeface="Candara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Candara"/>
              <a:buAutoNum type="arabicPeriod"/>
            </a:pPr>
            <a:r>
              <a:rPr lang="en-IN" sz="2100">
                <a:latin typeface="Candara"/>
                <a:ea typeface="Candara"/>
                <a:cs typeface="Candara"/>
                <a:sym typeface="Candara"/>
              </a:rPr>
              <a:t>Leverage build cache</a:t>
            </a:r>
            <a:endParaRPr sz="2100">
              <a:latin typeface="Candara"/>
              <a:ea typeface="Candara"/>
              <a:cs typeface="Candara"/>
              <a:sym typeface="Candara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Candara"/>
              <a:buAutoNum type="alphaLcPeriod"/>
            </a:pPr>
            <a:r>
              <a:rPr lang="en-IN" sz="2100">
                <a:latin typeface="Candara"/>
                <a:ea typeface="Candara"/>
                <a:cs typeface="Candara"/>
                <a:sym typeface="Candara"/>
              </a:rPr>
              <a:t>Order the layers depending on the changes. (keep the code building layer at the last)</a:t>
            </a:r>
            <a:endParaRPr sz="2100">
              <a:latin typeface="Candara"/>
              <a:ea typeface="Candara"/>
              <a:cs typeface="Candara"/>
              <a:sym typeface="Candara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Candara"/>
              <a:buAutoNum type="alphaLcPeriod"/>
            </a:pPr>
            <a:r>
              <a:rPr lang="en-IN" sz="2100">
                <a:latin typeface="Candara"/>
                <a:ea typeface="Candara"/>
                <a:cs typeface="Candara"/>
                <a:sym typeface="Candara"/>
              </a:rPr>
              <a:t>Keep the layers small.</a:t>
            </a:r>
            <a:endParaRPr sz="2100">
              <a:latin typeface="Candara"/>
              <a:ea typeface="Candara"/>
              <a:cs typeface="Candara"/>
              <a:sym typeface="Candara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Candara"/>
              <a:buAutoNum type="alphaLcPeriod"/>
            </a:pPr>
            <a:r>
              <a:rPr lang="en-IN" sz="2100">
                <a:latin typeface="Candara"/>
                <a:ea typeface="Candara"/>
                <a:cs typeface="Candara"/>
                <a:sym typeface="Candara"/>
              </a:rPr>
              <a:t>Name the build stages.</a:t>
            </a:r>
            <a:endParaRPr sz="2100"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body" idx="1"/>
          </p:nvPr>
        </p:nvSpPr>
        <p:spPr>
          <a:xfrm>
            <a:off x="609601" y="273051"/>
            <a:ext cx="1097279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IN"/>
              <a:t>Docker image commands</a:t>
            </a:r>
            <a:endParaRPr/>
          </a:p>
        </p:txBody>
      </p:sp>
      <p:sp>
        <p:nvSpPr>
          <p:cNvPr id="130" name="Google Shape;130;p1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sp>
        <p:nvSpPr>
          <p:cNvPr id="131" name="Google Shape;131;p12"/>
          <p:cNvSpPr txBox="1"/>
          <p:nvPr/>
        </p:nvSpPr>
        <p:spPr>
          <a:xfrm>
            <a:off x="609600" y="1338651"/>
            <a:ext cx="11065200" cy="48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</a:rPr>
              <a:t>Building docker image:</a:t>
            </a:r>
            <a:endParaRPr b="1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build –f &lt;dockerfilepath&gt; &lt;co</a:t>
            </a:r>
            <a:r>
              <a:rPr lang="en-IN"/>
              <a:t>nt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ext&gt;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build –t &lt;image_name&gt; &lt;context&gt;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</a:rPr>
              <a:t>Docker image commands:</a:t>
            </a:r>
            <a:endParaRPr b="1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docker images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Remove/delete docker image from local system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images rm &lt;image&gt;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Show details about an image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image suspect &lt;image&gt;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Push local docker image to docker registry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image push &lt;NAME&gt;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Pull an image from docker registry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image pull &lt;NAME&gt;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>
            <a:spLocks noGrp="1"/>
          </p:cNvSpPr>
          <p:nvPr>
            <p:ph type="title"/>
          </p:nvPr>
        </p:nvSpPr>
        <p:spPr>
          <a:xfrm>
            <a:off x="1043710" y="1141268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Each instruction creates a layer.</a:t>
            </a:r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body" idx="1"/>
          </p:nvPr>
        </p:nvSpPr>
        <p:spPr>
          <a:xfrm>
            <a:off x="1394691" y="273051"/>
            <a:ext cx="1018770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IN"/>
              <a:t>Docker Image Layers</a:t>
            </a:r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pic>
        <p:nvPicPr>
          <p:cNvPr id="139" name="Google Shape;13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7235" y="2420937"/>
            <a:ext cx="5781675" cy="34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300" cy="60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800"/>
              <a:t>Docker run: Creates and starts new container from image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800"/>
              <a:t>Docker stop: Stops a running container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800"/>
              <a:t>Docker ps : Lists all running containers</a:t>
            </a:r>
            <a:endParaRPr sz="2800"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800"/>
              <a:t>Docker rm: Removes one or more containers.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800"/>
              <a:t>Docker images: Lists available images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800"/>
              <a:t>Docker exec: Runs a command inside container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800"/>
              <a:t>Docker-compose: Manages multi-container applications using YAML file.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800"/>
              <a:t>Docker logs &lt;container&gt;: View logs from container.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800"/>
              <a:t>Docker stats: Display resource usage statistics</a:t>
            </a:r>
            <a:endParaRPr sz="2800"/>
          </a:p>
          <a:p>
            <a:pPr marL="457200" lvl="0" indent="-4064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800"/>
              <a:buChar char="•"/>
            </a:pPr>
            <a:r>
              <a:rPr lang="en-IN" sz="2800" u="sng">
                <a:solidFill>
                  <a:schemeClr val="hlink"/>
                </a:solidFill>
                <a:hlinkClick r:id="rId3"/>
              </a:rPr>
              <a:t>https://github.com/dockersamples/</a:t>
            </a:r>
            <a:r>
              <a:rPr lang="en-IN" sz="2800"/>
              <a:t> </a:t>
            </a:r>
            <a:endParaRPr sz="2800"/>
          </a:p>
        </p:txBody>
      </p:sp>
      <p:sp>
        <p:nvSpPr>
          <p:cNvPr id="145" name="Google Shape;145;p14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Docker command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1C143-D869-777E-D456-7C23CD080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Volumes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9404F-2723-697E-5DEE-18AE1E22C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Concept:</a:t>
            </a:r>
            <a:br>
              <a:rPr lang="en-US" dirty="0"/>
            </a:br>
            <a:r>
              <a:rPr lang="en-US" dirty="0"/>
              <a:t>Docker containers are ephemeral (temporary), meaning that any data inside it is lost when a container stops. Volumes provide </a:t>
            </a:r>
            <a:r>
              <a:rPr lang="en-US" b="1" dirty="0"/>
              <a:t>persistent storage</a:t>
            </a:r>
            <a:r>
              <a:rPr lang="en-US" dirty="0"/>
              <a:t> that stays even if the container stops.</a:t>
            </a:r>
          </a:p>
          <a:p>
            <a:r>
              <a:rPr lang="en-US" dirty="0"/>
              <a:t>You need a </a:t>
            </a:r>
            <a:r>
              <a:rPr lang="en-US" b="1" dirty="0"/>
              <a:t>storage locker (Volume)</a:t>
            </a:r>
            <a:r>
              <a:rPr lang="en-US" dirty="0"/>
              <a:t> outside the room.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68835-3651-F85C-16B7-AB9E24ABB12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B5D93-F1DE-E51A-BD8C-10DCB0810A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8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709C3-24BE-4790-2650-8BC33B0D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Networking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E7143-057D-7100-E21E-D3E6EC7D3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8917" y="1435100"/>
            <a:ext cx="10873483" cy="4691064"/>
          </a:xfrm>
        </p:spPr>
        <p:txBody>
          <a:bodyPr/>
          <a:lstStyle/>
          <a:p>
            <a:r>
              <a:rPr lang="en-US" dirty="0"/>
              <a:t>Docker provides different networking modes that allow containers to communicate with each other or with the outside world. The main types are: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Bridge (Default):</a:t>
            </a:r>
            <a:r>
              <a:rPr lang="en-US" dirty="0"/>
              <a:t> Containers can talk to each other but not to the host.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Host:</a:t>
            </a:r>
            <a:r>
              <a:rPr lang="en-US" dirty="0"/>
              <a:t> The container shares the same network as the host machine.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None:</a:t>
            </a:r>
            <a:r>
              <a:rPr lang="en-US" dirty="0"/>
              <a:t> The container has no network access.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Custom Networks:</a:t>
            </a:r>
            <a:r>
              <a:rPr lang="en-US" dirty="0"/>
              <a:t> Containers can communicate by name instead of IP addresses.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E323F-6295-3B54-4880-F2CB086734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37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>
            <a:spLocks noGrp="1"/>
          </p:cNvSpPr>
          <p:nvPr>
            <p:ph type="title"/>
          </p:nvPr>
        </p:nvSpPr>
        <p:spPr>
          <a:xfrm>
            <a:off x="6613238" y="217574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15"/>
          <p:cNvSpPr txBox="1">
            <a:spLocks noGrp="1"/>
          </p:cNvSpPr>
          <p:nvPr>
            <p:ph type="body" idx="1"/>
          </p:nvPr>
        </p:nvSpPr>
        <p:spPr>
          <a:xfrm>
            <a:off x="609601" y="273051"/>
            <a:ext cx="1097279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Functions</a:t>
            </a:r>
            <a:endParaRPr/>
          </a:p>
        </p:txBody>
      </p:sp>
      <p:sp>
        <p:nvSpPr>
          <p:cNvPr id="152" name="Google Shape;152;p15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10741890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AutoNum type="arabicPeriod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Service Discovery: It can run containers by name. </a:t>
            </a:r>
            <a:endParaRPr/>
          </a:p>
          <a:p>
            <a:pPr marL="1028700" lvl="1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AutoNum type="arabicPeriod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Each container is assigned an IP address within the  network,</a:t>
            </a:r>
            <a:endParaRPr/>
          </a:p>
          <a:p>
            <a:pPr marL="1028700" lvl="1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AutoNum type="arabicPeriod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Containers can also register host names.</a:t>
            </a:r>
            <a:endParaRPr/>
          </a:p>
          <a:p>
            <a:pPr marL="1028700" lvl="1" indent="-2667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5715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Global Configuration Stores:</a:t>
            </a:r>
            <a:endParaRPr/>
          </a:p>
          <a:p>
            <a:pPr marL="1028700" lvl="1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AutoNum type="arabicPeriod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Config files can be shared across all images.</a:t>
            </a:r>
            <a:endParaRPr/>
          </a:p>
          <a:p>
            <a:pPr marL="1028700" lvl="1" indent="-2667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5715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Communication:</a:t>
            </a:r>
            <a:endParaRPr/>
          </a:p>
          <a:p>
            <a:pPr marL="1028700" lvl="1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AutoNum type="arabicPeriod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Docker Engine provides communication between containers.</a:t>
            </a:r>
            <a:endParaRPr/>
          </a:p>
          <a:p>
            <a:pPr marL="1028700" lvl="1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AutoNum type="arabicPeriod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Tools like Weave, Flannel used when containers are running across multiple hosts.</a:t>
            </a:r>
            <a:endParaRPr/>
          </a:p>
          <a:p>
            <a:pPr marL="57150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Cluster Management:</a:t>
            </a:r>
            <a:endParaRPr/>
          </a:p>
          <a:p>
            <a:pPr marL="1028700" lvl="1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AutoNum type="arabicPeriod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Docker containers can be deployed on multiple hosts/clusters.</a:t>
            </a:r>
            <a:endParaRPr/>
          </a:p>
          <a:p>
            <a:pPr marL="1028700" lvl="1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AutoNum type="arabicPeriod"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Kubernetes, Docker Swarm are used for cluster management.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300" cy="58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“Kubernetes is open-source system for automating deployment, scaling and management of containerized applications.”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96% of organizations are using/evaluating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Close to 6M developers using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Developed on basis of Google’s internal cluster management system called Borg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Donated K8 as first open-source project.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Written in Go programming language.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/>
              <a:t>Applications for planet-scale - Spotify (10M/sec)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1800"/>
          </a:p>
        </p:txBody>
      </p:sp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Kubernetes	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913e425248_0_19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300" cy="39747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457200" lvl="0" indent="-431800" algn="l" rtl="0">
              <a:spcBef>
                <a:spcPts val="64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Open-sourced platform for managing containerized workloads and services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Makes it easy to orchestrate many containers on many hosts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Scales the container applications and deploy rollouts and rollbacks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Is a set of APIs to deploy containers on clusters.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Contains Control pane and set of nodes as containers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Can make set of applications can interact with each other</a:t>
            </a:r>
            <a:endParaRPr/>
          </a:p>
        </p:txBody>
      </p:sp>
      <p:sp>
        <p:nvSpPr>
          <p:cNvPr id="166" name="Google Shape;166;g2913e425248_0_19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300" cy="4974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Why Kubernetes?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89091" y="3423009"/>
            <a:ext cx="4581813" cy="323467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400" cy="5020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800"/>
              <a:t>Containers are an application centric method to deliver high-performing scalable infrastructure of any choice.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800"/>
              <a:t>Container orchestrators group systems together to form clusters where containers deployment and management is automated at scale while meeting the requirements:</a:t>
            </a:r>
            <a:endParaRPr/>
          </a:p>
          <a:p>
            <a:pPr marL="91440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2400"/>
              <a:t>Fault tolerance</a:t>
            </a:r>
            <a:endParaRPr/>
          </a:p>
          <a:p>
            <a:pPr marL="91440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2400"/>
              <a:t>On-demand scalability</a:t>
            </a:r>
            <a:endParaRPr/>
          </a:p>
          <a:p>
            <a:pPr marL="91440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2400"/>
              <a:t>Optimal resource usage</a:t>
            </a:r>
            <a:endParaRPr/>
          </a:p>
          <a:p>
            <a:pPr marL="91440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2400"/>
              <a:t>Auto-discovery of service</a:t>
            </a:r>
            <a:endParaRPr/>
          </a:p>
          <a:p>
            <a:pPr marL="91440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2400"/>
              <a:t>Accessibility from outside</a:t>
            </a:r>
            <a:endParaRPr/>
          </a:p>
          <a:p>
            <a:pPr marL="91440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IN" sz="2400"/>
              <a:t>Seamless updates/rollback</a:t>
            </a:r>
            <a:endParaRPr sz="2400"/>
          </a:p>
        </p:txBody>
      </p:sp>
      <p:sp>
        <p:nvSpPr>
          <p:cNvPr id="173" name="Google Shape;173;p16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Kubernetes - Container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4fced50cab_0_0"/>
          <p:cNvSpPr txBox="1">
            <a:spLocks noGrp="1"/>
          </p:cNvSpPr>
          <p:nvPr>
            <p:ph type="body" idx="1"/>
          </p:nvPr>
        </p:nvSpPr>
        <p:spPr>
          <a:xfrm>
            <a:off x="622300" y="1129025"/>
            <a:ext cx="10947300" cy="51546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914400" lvl="1" indent="-419100" algn="l" rtl="0">
              <a:spcBef>
                <a:spcPts val="560"/>
              </a:spcBef>
              <a:spcAft>
                <a:spcPts val="0"/>
              </a:spcAft>
              <a:buSzPts val="3000"/>
              <a:buChar char="–"/>
            </a:pPr>
            <a:r>
              <a:rPr lang="en-IN" sz="2000"/>
              <a:t>Self-healing: Replaces and reschedules containers from failed nodes.</a:t>
            </a:r>
            <a:endParaRPr sz="3000"/>
          </a:p>
          <a:p>
            <a:pPr marL="914400" lvl="1" indent="-419100" algn="l" rtl="0">
              <a:spcBef>
                <a:spcPts val="560"/>
              </a:spcBef>
              <a:spcAft>
                <a:spcPts val="0"/>
              </a:spcAft>
              <a:buSzPts val="3000"/>
              <a:buChar char="–"/>
            </a:pPr>
            <a:r>
              <a:rPr lang="en-IN" sz="2000"/>
              <a:t>Horizontal scaling: Scaled manually/automatically based on CPU utilization.</a:t>
            </a:r>
            <a:endParaRPr sz="3000"/>
          </a:p>
          <a:p>
            <a:pPr marL="914400" lvl="1" indent="-419100" algn="l" rtl="0">
              <a:spcBef>
                <a:spcPts val="560"/>
              </a:spcBef>
              <a:spcAft>
                <a:spcPts val="0"/>
              </a:spcAft>
              <a:buSzPts val="3000"/>
              <a:buChar char="–"/>
            </a:pPr>
            <a:r>
              <a:rPr lang="en-IN" sz="2000"/>
              <a:t>Service discovery and load balancing: It assigns single DNS to set of containers for load balancing.</a:t>
            </a:r>
            <a:endParaRPr sz="3000"/>
          </a:p>
          <a:p>
            <a:pPr marL="914400" lvl="1" indent="-419100" algn="l" rtl="0">
              <a:spcBef>
                <a:spcPts val="560"/>
              </a:spcBef>
              <a:spcAft>
                <a:spcPts val="0"/>
              </a:spcAft>
              <a:buSzPts val="3000"/>
              <a:buChar char="–"/>
            </a:pPr>
            <a:r>
              <a:rPr lang="en-IN" sz="2000"/>
              <a:t>Automatic bin packing: Automatically schedules containers based on needs and resource constraints</a:t>
            </a:r>
            <a:endParaRPr sz="3000"/>
          </a:p>
          <a:p>
            <a:pPr marL="914400" lvl="1" indent="-419100" algn="l" rtl="0">
              <a:spcBef>
                <a:spcPts val="560"/>
              </a:spcBef>
              <a:spcAft>
                <a:spcPts val="0"/>
              </a:spcAft>
              <a:buSzPts val="3000"/>
              <a:buChar char="–"/>
            </a:pPr>
            <a:r>
              <a:rPr lang="en-IN" sz="2000"/>
              <a:t>Automatic roll outs and rollbacks: Rolls out application updates and configuration changes.</a:t>
            </a:r>
            <a:endParaRPr sz="3000"/>
          </a:p>
          <a:p>
            <a:pPr marL="914400" lvl="1" indent="-419100" algn="l" rtl="0">
              <a:spcBef>
                <a:spcPts val="560"/>
              </a:spcBef>
              <a:spcAft>
                <a:spcPts val="0"/>
              </a:spcAft>
              <a:buSzPts val="3000"/>
              <a:buChar char="–"/>
            </a:pPr>
            <a:r>
              <a:rPr lang="en-IN" sz="2000"/>
              <a:t>Secret and config management: Manages sensitive data separately from container image.</a:t>
            </a:r>
            <a:endParaRPr sz="3000"/>
          </a:p>
          <a:p>
            <a:pPr marL="914400" lvl="1" indent="-419100" algn="l" rtl="0">
              <a:spcBef>
                <a:spcPts val="560"/>
              </a:spcBef>
              <a:spcAft>
                <a:spcPts val="0"/>
              </a:spcAft>
              <a:buSzPts val="3000"/>
              <a:buChar char="–"/>
            </a:pPr>
            <a:r>
              <a:rPr lang="en-IN" sz="2000"/>
              <a:t>Storage orchestration: Automatically mounts software defined storage from cloud, distributed storage.</a:t>
            </a:r>
            <a:endParaRPr sz="3000"/>
          </a:p>
          <a:p>
            <a:pPr marL="914400" lvl="1" indent="-419100" algn="l" rtl="0">
              <a:spcBef>
                <a:spcPts val="560"/>
              </a:spcBef>
              <a:spcAft>
                <a:spcPts val="0"/>
              </a:spcAft>
              <a:buSzPts val="3000"/>
              <a:buChar char="–"/>
            </a:pPr>
            <a:r>
              <a:rPr lang="en-IN" sz="2000"/>
              <a:t>Batch Execution: Supports batch execution, long-running jobs.</a:t>
            </a:r>
            <a:endParaRPr sz="3000"/>
          </a:p>
        </p:txBody>
      </p:sp>
      <p:sp>
        <p:nvSpPr>
          <p:cNvPr id="180" name="Google Shape;180;g24fced50cab_0_0"/>
          <p:cNvSpPr txBox="1">
            <a:spLocks noGrp="1"/>
          </p:cNvSpPr>
          <p:nvPr>
            <p:ph type="title"/>
          </p:nvPr>
        </p:nvSpPr>
        <p:spPr>
          <a:xfrm>
            <a:off x="622350" y="198402"/>
            <a:ext cx="10947300" cy="4974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Kubernetes Features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8"/>
          <p:cNvPicPr preferRelativeResize="0"/>
          <p:nvPr/>
        </p:nvPicPr>
        <p:blipFill rotWithShape="1">
          <a:blip r:embed="rId3">
            <a:alphaModFix/>
          </a:blip>
          <a:srcRect l="-36072" t="-5737" r="-5610" b="-1697"/>
          <a:stretch/>
        </p:blipFill>
        <p:spPr>
          <a:xfrm>
            <a:off x="-3790150" y="1310650"/>
            <a:ext cx="15359850" cy="581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Kubernetes Architecture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400" cy="505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400" b="1"/>
              <a:t>kube-scheduler</a:t>
            </a:r>
            <a:r>
              <a:rPr lang="en-IN" sz="2400"/>
              <a:t> is to assign new workload objects, such as pods encapsulating containers, to nodes - typically worker nodes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400" b="1"/>
              <a:t>Controller managers</a:t>
            </a:r>
            <a:r>
              <a:rPr lang="en-IN" sz="2400"/>
              <a:t> are components of the control plane node running controllers or operator processes to regulate the state of the Kubernetes cluster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400" b="1"/>
              <a:t>kube-controller-manager</a:t>
            </a:r>
            <a:r>
              <a:rPr lang="en-IN" sz="2400"/>
              <a:t> runs controllers or operators responsible to act when nodes become unavailable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400" b="1"/>
              <a:t>cloud-controller-manager</a:t>
            </a:r>
            <a:r>
              <a:rPr lang="en-IN" sz="2400"/>
              <a:t> runs controllers or operators responsible to interact with the underlying infrastructure of a cloud provider when nodes become unavailable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IN" sz="2400" b="1"/>
              <a:t>etcd</a:t>
            </a:r>
            <a:r>
              <a:rPr lang="en-IN" sz="2400"/>
              <a:t> is a strongly consistent, distributed </a:t>
            </a:r>
            <a:r>
              <a:rPr lang="en-IN" sz="2400" b="1"/>
              <a:t>key-value data store</a:t>
            </a:r>
            <a:r>
              <a:rPr lang="en-IN" sz="2400"/>
              <a:t> used to persist a Kubernetes cluster's state.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Kubernetes components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913e425248_0_46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300" cy="48981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457200" lvl="0" indent="-431800" algn="l" rtl="0">
              <a:spcBef>
                <a:spcPts val="64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Applications running on K8s are called workloads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Pods run workloads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Pods contain one or more nodes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K8s manages the lifecycle of pods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Pods start and stop all containers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Applications</a:t>
            </a:r>
            <a:endParaRPr/>
          </a:p>
          <a:p>
            <a:pPr marL="914400" lvl="1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 sz="3200"/>
              <a:t>It can run stateless applications</a:t>
            </a:r>
            <a:endParaRPr sz="3200"/>
          </a:p>
          <a:p>
            <a:pPr marL="914400" lvl="1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 sz="3200"/>
              <a:t>Can run stateful applications like databases</a:t>
            </a:r>
            <a:endParaRPr sz="3200"/>
          </a:p>
          <a:p>
            <a:pPr marL="914400" lvl="1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 sz="3200"/>
              <a:t>It is used for batch jobs and cron jobs</a:t>
            </a:r>
            <a:endParaRPr sz="32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endParaRPr/>
          </a:p>
        </p:txBody>
      </p:sp>
      <p:sp>
        <p:nvSpPr>
          <p:cNvPr id="199" name="Google Shape;199;g2913e425248_0_46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300" cy="4974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Workloads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913e425248_0_58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300" cy="32973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457200" lvl="0" indent="-431800" algn="l" rtl="0">
              <a:spcBef>
                <a:spcPts val="64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Nodes are hosts which run pod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Nodes can be physical machines/VMs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Nodes are managed by controllers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Components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IN"/>
              <a:t>Kubelet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IN"/>
              <a:t>Kube-proxy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IN"/>
              <a:t>Container run time</a:t>
            </a:r>
            <a:endParaRPr/>
          </a:p>
        </p:txBody>
      </p:sp>
      <p:sp>
        <p:nvSpPr>
          <p:cNvPr id="206" name="Google Shape;206;g2913e425248_0_58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300" cy="4974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Nodes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913e425248_0_0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300" cy="24969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457200" lvl="0" indent="-431800" algn="l" rtl="0">
              <a:spcBef>
                <a:spcPts val="640"/>
              </a:spcBef>
              <a:spcAft>
                <a:spcPts val="0"/>
              </a:spcAft>
              <a:buSzPts val="3200"/>
              <a:buAutoNum type="arabicPeriod"/>
            </a:pPr>
            <a:r>
              <a:rPr lang="en-IN"/>
              <a:t>Customers get computing resources on-demand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IN"/>
              <a:t>Access to resources from anywhere on Internet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IN"/>
              <a:t>Resource provider allocates the resources to user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IN"/>
              <a:t>Resources are flexible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IN"/>
              <a:t>Pay for only what they use</a:t>
            </a:r>
            <a:endParaRPr/>
          </a:p>
        </p:txBody>
      </p:sp>
      <p:sp>
        <p:nvSpPr>
          <p:cNvPr id="213" name="Google Shape;213;g2913e425248_0_0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300" cy="4974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Cloud Computing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300" cy="46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457200" lvl="0" indent="-4254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100"/>
              <a:buChar char="•"/>
            </a:pPr>
            <a:r>
              <a:rPr lang="en-IN" sz="2300" b="1">
                <a:latin typeface="Calibri"/>
                <a:ea typeface="Calibri"/>
                <a:cs typeface="Calibri"/>
                <a:sym typeface="Calibri"/>
              </a:rPr>
              <a:t>Worker node</a:t>
            </a:r>
            <a:r>
              <a:rPr lang="en-IN" sz="2300">
                <a:latin typeface="Calibri"/>
                <a:ea typeface="Calibri"/>
                <a:cs typeface="Calibri"/>
                <a:sym typeface="Calibri"/>
              </a:rPr>
              <a:t> provides a running environment for client applications. These applications are microservices running as application containers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254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100"/>
              <a:buChar char="•"/>
            </a:pPr>
            <a:r>
              <a:rPr lang="en-IN" sz="2300" b="1">
                <a:latin typeface="Calibri"/>
                <a:ea typeface="Calibri"/>
                <a:cs typeface="Calibri"/>
                <a:sym typeface="Calibri"/>
              </a:rPr>
              <a:t>kubelet</a:t>
            </a:r>
            <a:r>
              <a:rPr lang="en-IN" sz="2300">
                <a:latin typeface="Calibri"/>
                <a:ea typeface="Calibri"/>
                <a:cs typeface="Calibri"/>
                <a:sym typeface="Calibri"/>
              </a:rPr>
              <a:t> is an agent running on each node, control plane and workers, and communicates with the control plane.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254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100"/>
              <a:buChar char="•"/>
            </a:pPr>
            <a:r>
              <a:rPr lang="en-IN" sz="2300" b="1">
                <a:latin typeface="Calibri"/>
                <a:ea typeface="Calibri"/>
                <a:cs typeface="Calibri"/>
                <a:sym typeface="Calibri"/>
              </a:rPr>
              <a:t>kube-proxy</a:t>
            </a:r>
            <a:r>
              <a:rPr lang="en-IN" sz="2300">
                <a:latin typeface="Calibri"/>
                <a:ea typeface="Calibri"/>
                <a:cs typeface="Calibri"/>
                <a:sym typeface="Calibri"/>
              </a:rPr>
              <a:t> is the network agent which runs on each node, control plane and workers, responsible for dynamic updates and maintenance of all networking rules on the node.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IN" sz="2200" b="1">
                <a:latin typeface="Calibri"/>
                <a:ea typeface="Calibri"/>
                <a:cs typeface="Calibri"/>
                <a:sym typeface="Calibri"/>
              </a:rPr>
              <a:t>Node registration</a:t>
            </a:r>
            <a:endParaRPr sz="2200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640"/>
              </a:spcBef>
              <a:spcAft>
                <a:spcPts val="0"/>
              </a:spcAft>
              <a:buSzPts val="2300"/>
              <a:buFont typeface="Calibri"/>
              <a:buChar char="-"/>
            </a:pPr>
            <a:r>
              <a:rPr lang="en-IN" sz="2300">
                <a:latin typeface="Calibri"/>
                <a:ea typeface="Calibri"/>
                <a:cs typeface="Calibri"/>
                <a:sym typeface="Calibri"/>
              </a:rPr>
              <a:t>Self discovery: kube-let with register the node with API server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-"/>
            </a:pPr>
            <a:r>
              <a:rPr lang="en-IN" sz="2300">
                <a:latin typeface="Calibri"/>
                <a:ea typeface="Calibri"/>
                <a:cs typeface="Calibri"/>
                <a:sym typeface="Calibri"/>
              </a:rPr>
              <a:t>Manual: Nodes can be updated using kubectl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-"/>
            </a:pPr>
            <a:r>
              <a:rPr lang="en-IN" sz="2300">
                <a:latin typeface="Calibri"/>
                <a:ea typeface="Calibri"/>
                <a:cs typeface="Calibri"/>
                <a:sym typeface="Calibri"/>
              </a:rPr>
              <a:t>Nodes provide the status information to API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Kubernetes components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913e425248_0_70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300" cy="52266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457200" lvl="0" indent="-431800" algn="l" rtl="0">
              <a:spcBef>
                <a:spcPts val="64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Maintain state of resources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Watch the state of resources and take action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Via API Server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IN"/>
              <a:t>Calls the API to change the system state.e.g.,job state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- Via External resources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	- Communicates with infra management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- Can run inside kube-control-manager component of control pane.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- Lot of built-in controllers available e.g., job controller, node controller</a:t>
            </a:r>
            <a:endParaRPr/>
          </a:p>
        </p:txBody>
      </p:sp>
      <p:sp>
        <p:nvSpPr>
          <p:cNvPr id="226" name="Google Shape;226;g2913e425248_0_70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300" cy="4974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Controllers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913e425248_0_6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300" cy="5268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2913e425248_0_6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300" cy="4974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Google Cloud Offerings	</a:t>
            </a:r>
            <a:endParaRPr/>
          </a:p>
        </p:txBody>
      </p:sp>
      <p:pic>
        <p:nvPicPr>
          <p:cNvPr id="234" name="Google Shape;234;g2913e425248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4800" y="2063828"/>
            <a:ext cx="9667875" cy="32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913e425248_0_13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300" cy="43029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Compute engine - Compute, Storage, Network, VMs, Disks/SSDs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Google Kubernetes Engine - Runs containerized applications on cloud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App Engine - Fully managed Platform As Service. Infra app needs.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Cloud Functions - Event based code execution, deploys compute for the code, uses connected cloud solutions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r>
              <a:rPr lang="en-IN"/>
              <a:t>Cloud run - Managed cloud platform, runs containers</a:t>
            </a:r>
            <a:endParaRPr/>
          </a:p>
        </p:txBody>
      </p:sp>
      <p:sp>
        <p:nvSpPr>
          <p:cNvPr id="241" name="Google Shape;241;g2913e425248_0_13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300" cy="4974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Google cloud offerings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913e425248_0_25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300" cy="29895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spAutoFit/>
          </a:bodyPr>
          <a:lstStyle/>
          <a:p>
            <a:pPr marL="457200" lvl="0" indent="-431800" algn="l" rtl="0">
              <a:spcBef>
                <a:spcPts val="64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Managed K8s service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Manages to scale, deploy and scale K8s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Manages cluster configuration likes nodes, config, security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Ensures clusters have latest version of K8s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Auto-repairs unhealthy nodes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IN"/>
              <a:t>Scales cluster</a:t>
            </a:r>
            <a:endParaRPr/>
          </a:p>
        </p:txBody>
      </p:sp>
      <p:sp>
        <p:nvSpPr>
          <p:cNvPr id="248" name="Google Shape;248;g2913e425248_0_25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300" cy="497400"/>
          </a:xfrm>
          <a:prstGeom prst="rect">
            <a:avLst/>
          </a:prstGeom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Google Kubernetes Engine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1892</Words>
  <Application>Microsoft Office PowerPoint</Application>
  <PresentationFormat>Widescreen</PresentationFormat>
  <Paragraphs>249</Paragraphs>
  <Slides>32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Candara</vt:lpstr>
      <vt:lpstr>Calibri</vt:lpstr>
      <vt:lpstr>Corbel</vt:lpstr>
      <vt:lpstr>Office Theme</vt:lpstr>
      <vt:lpstr>Docker</vt:lpstr>
      <vt:lpstr>Virtual machines</vt:lpstr>
      <vt:lpstr>Virtual Machines</vt:lpstr>
      <vt:lpstr>Containers</vt:lpstr>
      <vt:lpstr>Docker Components</vt:lpstr>
      <vt:lpstr>Docker Architecture</vt:lpstr>
      <vt:lpstr>Why Docker?</vt:lpstr>
      <vt:lpstr>Docker components</vt:lpstr>
      <vt:lpstr>Productionization</vt:lpstr>
      <vt:lpstr>PowerPoint Presentation</vt:lpstr>
      <vt:lpstr>PowerPoint Presentation</vt:lpstr>
      <vt:lpstr>PowerPoint Presentation</vt:lpstr>
      <vt:lpstr>PowerPoint Presentation</vt:lpstr>
      <vt:lpstr>Each instruction creates a layer.</vt:lpstr>
      <vt:lpstr>Docker command</vt:lpstr>
      <vt:lpstr>Volumes</vt:lpstr>
      <vt:lpstr>Docker Networking</vt:lpstr>
      <vt:lpstr>PowerPoint Presentation</vt:lpstr>
      <vt:lpstr>Kubernetes </vt:lpstr>
      <vt:lpstr>Why Kubernetes?</vt:lpstr>
      <vt:lpstr>Kubernetes - Container</vt:lpstr>
      <vt:lpstr>Kubernetes Features</vt:lpstr>
      <vt:lpstr>Kubernetes Architecture</vt:lpstr>
      <vt:lpstr>Kubernetes components</vt:lpstr>
      <vt:lpstr>Workloads</vt:lpstr>
      <vt:lpstr>Nodes</vt:lpstr>
      <vt:lpstr>Cloud Computing</vt:lpstr>
      <vt:lpstr>Kubernetes components</vt:lpstr>
      <vt:lpstr>Controllers</vt:lpstr>
      <vt:lpstr>Google Cloud Offerings </vt:lpstr>
      <vt:lpstr>Google cloud offerings</vt:lpstr>
      <vt:lpstr>Google Kubernetes Engine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Bharani Akella</dc:creator>
  <cp:lastModifiedBy>Soudamini Sreepada</cp:lastModifiedBy>
  <cp:revision>3</cp:revision>
  <dcterms:modified xsi:type="dcterms:W3CDTF">2025-03-03T04:34:06Z</dcterms:modified>
</cp:coreProperties>
</file>